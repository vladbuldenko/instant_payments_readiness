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Assistant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ssistant-bold.fntdata"/><Relationship Id="rId25" Type="http://schemas.openxmlformats.org/officeDocument/2006/relationships/font" Target="fonts/Assistan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aac1c87b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aac1c87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ac1c87b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aaac1c87b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aac1c87b7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aac1c87b7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ac1c87b7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aaac1c87b7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aac1c87b7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aac1c87b7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a2962faaf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9a2962faa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aac1c87b7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aac1c87b7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a2962faaf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9a2962faaf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ac1c87b7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aac1c87b7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a2962faaf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9a2962faaf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aac1c87b7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aac1c87b7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a2962faaf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9a2962faaf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aac1c87b7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aac1c87b7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a2962faaf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9a2962faaf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aac1c87b7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aaac1c87b7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aac1c87b7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aac1c87b7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a2962faaf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9a2962faaf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a2962faaf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9a2962faaf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a2962faa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9a2962faa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311726" y="342910"/>
            <a:ext cx="2560425" cy="520904"/>
            <a:chOff x="311726" y="342910"/>
            <a:chExt cx="2560425" cy="520904"/>
          </a:xfrm>
        </p:grpSpPr>
        <p:sp>
          <p:nvSpPr>
            <p:cNvPr id="17" name="Google Shape;17;p2"/>
            <p:cNvSpPr/>
            <p:nvPr/>
          </p:nvSpPr>
          <p:spPr>
            <a:xfrm>
              <a:off x="311726" y="342910"/>
              <a:ext cx="2560425" cy="5209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 rotWithShape="1">
            <a:blip r:embed="rId2">
              <a:alphaModFix/>
            </a:blip>
            <a:srcRect b="0" l="377" r="386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Google Shape;25;p2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i="0" sz="10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3" name="Google Shape;33;p3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i="0" sz="10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35" name="Google Shape;35;p3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36;p3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37" name="Google Shape;37;p3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" name="Google Shape;38;p3"/>
            <p:cNvPicPr preferRelativeResize="0"/>
            <p:nvPr/>
          </p:nvPicPr>
          <p:blipFill rotWithShape="1">
            <a:blip r:embed="rId2">
              <a:alphaModFix/>
            </a:blip>
            <a:srcRect b="0" l="377" r="386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type="secHead">
  <p:cSld name="SECTION_HEADER">
    <p:bg>
      <p:bgPr>
        <a:noFill/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bg>
      <p:bgPr>
        <a:noFill/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noFill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2" type="body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1"/>
          <p:cNvSpPr txBox="1"/>
          <p:nvPr>
            <p:ph idx="2" type="body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11"/>
          <p:cNvSpPr txBox="1"/>
          <p:nvPr>
            <p:ph idx="3" type="body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3"/>
          <p:cNvSpPr txBox="1"/>
          <p:nvPr>
            <p:ph idx="1" type="body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and contact">
  <p:cSld name="MAIN_POINT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0" name="Google Shape;100;p15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101" name="Google Shape;101;p15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104" name="Google Shape;104;p15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15"/>
          <p:cNvSpPr txBox="1"/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16"/>
          <p:cNvSpPr txBox="1"/>
          <p:nvPr>
            <p:ph idx="2" type="body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/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hasCustomPrompt="1" type="title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9"/>
          <p:cNvSpPr txBox="1"/>
          <p:nvPr>
            <p:ph idx="2" type="title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idx="3" type="body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4" type="title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27" name="Google Shape;127;p19"/>
          <p:cNvSpPr txBox="1"/>
          <p:nvPr>
            <p:ph idx="5" type="body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b="1" i="0" sz="2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b="0" i="0" sz="1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8458848" y="343116"/>
            <a:ext cx="381224" cy="576102"/>
            <a:chOff x="8458848" y="343116"/>
            <a:chExt cx="381224" cy="576102"/>
          </a:xfrm>
        </p:grpSpPr>
        <p:sp>
          <p:nvSpPr>
            <p:cNvPr id="10" name="Google Shape;10;p1"/>
            <p:cNvSpPr/>
            <p:nvPr/>
          </p:nvSpPr>
          <p:spPr>
            <a:xfrm>
              <a:off x="8458848" y="343116"/>
              <a:ext cx="381224" cy="576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Google Shape;11;p1"/>
            <p:cNvPicPr preferRelativeResize="0"/>
            <p:nvPr/>
          </p:nvPicPr>
          <p:blipFill rotWithShape="1">
            <a:blip r:embed="rId1">
              <a:alphaModFix/>
            </a:blip>
            <a:srcRect b="0" l="79" r="79" t="0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jpg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ctrTitle"/>
          </p:nvPr>
        </p:nvSpPr>
        <p:spPr>
          <a:xfrm>
            <a:off x="464775" y="721075"/>
            <a:ext cx="88323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t/>
            </a:r>
            <a:endParaRPr b="0"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" sz="5200">
                <a:solidFill>
                  <a:schemeClr val="accent1"/>
                </a:solidFill>
              </a:rPr>
              <a:t>Instant Payments Readiness   </a:t>
            </a:r>
            <a:endParaRPr sz="52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" sz="5200">
                <a:solidFill>
                  <a:schemeClr val="accent1"/>
                </a:solidFill>
              </a:rPr>
              <a:t>&amp; Impact Simulator</a:t>
            </a:r>
            <a:endParaRPr/>
          </a:p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 rot="-2700000">
            <a:off x="6126537" y="2988172"/>
            <a:ext cx="4263005" cy="8773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620">
                <a:solidFill>
                  <a:srgbClr val="58ADC5"/>
                </a:solidFill>
              </a:rPr>
              <a:t>Developed by Vladyslav Buldenko </a:t>
            </a:r>
            <a:endParaRPr sz="1620">
              <a:solidFill>
                <a:srgbClr val="58ADC5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90"/>
              <a:buNone/>
            </a:pPr>
            <a:r>
              <a:t/>
            </a:r>
            <a:endParaRPr sz="2590"/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2200" y="4275200"/>
            <a:ext cx="1279600" cy="4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 title="instant-payment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375" y="2548575"/>
            <a:ext cx="5102761" cy="22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150" y="5647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project?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289275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Instant Payments are rapidly becoming the dominant payment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in Germany.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Banks must balance speed, security, and operational workload under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growing system load.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Bundesbank data provides a reliable, real-world foundation to validate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trends.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simulation model allows testing “what-if” VoP &amp; Fraud settings that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datasets don’t include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5" name="Google Shape;145;p22"/>
          <p:cNvGrpSpPr/>
          <p:nvPr/>
        </p:nvGrpSpPr>
        <p:grpSpPr>
          <a:xfrm rot="2699785">
            <a:off x="429322" y="3877359"/>
            <a:ext cx="1208946" cy="982653"/>
            <a:chOff x="2318413" y="2452450"/>
            <a:chExt cx="1067700" cy="867900"/>
          </a:xfrm>
        </p:grpSpPr>
        <p:sp>
          <p:nvSpPr>
            <p:cNvPr id="146" name="Google Shape;146;p22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2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7370" y="1972579"/>
            <a:ext cx="1084950" cy="1135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22"/>
          <p:cNvGrpSpPr/>
          <p:nvPr/>
        </p:nvGrpSpPr>
        <p:grpSpPr>
          <a:xfrm flipH="1">
            <a:off x="5423037" y="129497"/>
            <a:ext cx="1007894" cy="1007892"/>
            <a:chOff x="5999050" y="3320360"/>
            <a:chExt cx="1104178" cy="1104176"/>
          </a:xfrm>
        </p:grpSpPr>
        <p:sp>
          <p:nvSpPr>
            <p:cNvPr id="150" name="Google Shape;150;p22"/>
            <p:cNvSpPr/>
            <p:nvPr/>
          </p:nvSpPr>
          <p:spPr>
            <a:xfrm>
              <a:off x="5999050" y="3421936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CDE6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2"/>
            <p:cNvSpPr/>
            <p:nvPr/>
          </p:nvSpPr>
          <p:spPr>
            <a:xfrm>
              <a:off x="6100628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58AD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311700" y="1464825"/>
            <a:ext cx="85206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 Bundesbank payment data to understand market trends.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Validate the shift toward Instant Payments and rising system load.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a synthetic simulator to test VoP &amp; Fraud thresholds.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the optimal balance between speed, security, and operational workload.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>
            <p:ph type="title"/>
          </p:nvPr>
        </p:nvSpPr>
        <p:spPr>
          <a:xfrm>
            <a:off x="372875" y="915600"/>
            <a:ext cx="72615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80"/>
              <a:buFont typeface="Arial"/>
              <a:buNone/>
            </a:pPr>
            <a:r>
              <a:rPr lang="en" sz="4080">
                <a:solidFill>
                  <a:schemeClr val="accent1"/>
                </a:solidFill>
              </a:rPr>
              <a:t>Project Goals  </a:t>
            </a:r>
            <a:endParaRPr sz="408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520"/>
          </a:p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9150" y="2975300"/>
            <a:ext cx="2073149" cy="2073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23"/>
          <p:cNvGrpSpPr/>
          <p:nvPr/>
        </p:nvGrpSpPr>
        <p:grpSpPr>
          <a:xfrm rot="8100000">
            <a:off x="448529" y="3510059"/>
            <a:ext cx="974676" cy="792284"/>
            <a:chOff x="521400" y="3135325"/>
            <a:chExt cx="1067700" cy="867900"/>
          </a:xfrm>
        </p:grpSpPr>
        <p:sp>
          <p:nvSpPr>
            <p:cNvPr id="160" name="Google Shape;160;p23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rgbClr val="58AD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" name="Google Shape;162;p23"/>
          <p:cNvGrpSpPr/>
          <p:nvPr/>
        </p:nvGrpSpPr>
        <p:grpSpPr>
          <a:xfrm>
            <a:off x="3499683" y="4715305"/>
            <a:ext cx="1007894" cy="1007892"/>
            <a:chOff x="3717325" y="2137000"/>
            <a:chExt cx="1104178" cy="1104176"/>
          </a:xfrm>
        </p:grpSpPr>
        <p:sp>
          <p:nvSpPr>
            <p:cNvPr id="163" name="Google Shape;163;p23"/>
            <p:cNvSpPr/>
            <p:nvPr/>
          </p:nvSpPr>
          <p:spPr>
            <a:xfrm>
              <a:off x="3717325" y="2238576"/>
              <a:ext cx="1002600" cy="1002600"/>
            </a:xfrm>
            <a:prstGeom prst="ellipse">
              <a:avLst/>
            </a:prstGeom>
            <a:solidFill>
              <a:srgbClr val="EA5B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3818903" y="213700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106225" y="2053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&amp; Preprocessing</a:t>
            </a:r>
            <a:endParaRPr/>
          </a:p>
        </p:txBody>
      </p:sp>
      <p:sp>
        <p:nvSpPr>
          <p:cNvPr id="170" name="Google Shape;170;p2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1" name="Google Shape;171;p24"/>
          <p:cNvGrpSpPr/>
          <p:nvPr/>
        </p:nvGrpSpPr>
        <p:grpSpPr>
          <a:xfrm rot="3908890">
            <a:off x="8786237" y="4815042"/>
            <a:ext cx="1209020" cy="982659"/>
            <a:chOff x="2318413" y="2452450"/>
            <a:chExt cx="1067700" cy="867900"/>
          </a:xfrm>
        </p:grpSpPr>
        <p:sp>
          <p:nvSpPr>
            <p:cNvPr id="172" name="Google Shape;172;p24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24"/>
          <p:cNvGrpSpPr/>
          <p:nvPr/>
        </p:nvGrpSpPr>
        <p:grpSpPr>
          <a:xfrm flipH="1">
            <a:off x="311162" y="-731153"/>
            <a:ext cx="1007894" cy="1007892"/>
            <a:chOff x="5999050" y="3320360"/>
            <a:chExt cx="1104178" cy="1104176"/>
          </a:xfrm>
        </p:grpSpPr>
        <p:sp>
          <p:nvSpPr>
            <p:cNvPr id="175" name="Google Shape;175;p24"/>
            <p:cNvSpPr/>
            <p:nvPr/>
          </p:nvSpPr>
          <p:spPr>
            <a:xfrm>
              <a:off x="5999050" y="3421936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CDE6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6100628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58AD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24"/>
          <p:cNvSpPr txBox="1"/>
          <p:nvPr/>
        </p:nvSpPr>
        <p:spPr>
          <a:xfrm>
            <a:off x="106225" y="936750"/>
            <a:ext cx="4302000" cy="3951600"/>
          </a:xfrm>
          <a:prstGeom prst="rect">
            <a:avLst/>
          </a:prstGeom>
          <a:solidFill>
            <a:srgbClr val="CDE6E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ssistant"/>
              <a:buAutoNum type="arabicPeriod"/>
            </a:pPr>
            <a:r>
              <a:rPr b="1" lang="en" sz="145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Extract Data</a:t>
            </a:r>
            <a:endParaRPr b="1" sz="13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ssistant"/>
              <a:buChar char="●"/>
            </a:pPr>
            <a:r>
              <a:rPr lang="en" sz="1300">
                <a:latin typeface="Assistant"/>
                <a:ea typeface="Assistant"/>
                <a:cs typeface="Assistant"/>
                <a:sym typeface="Assistant"/>
              </a:rPr>
              <a:t>Load Bundesbank Excel dataset.</a:t>
            </a:r>
            <a:endParaRPr sz="1300">
              <a:latin typeface="Assistant"/>
              <a:ea typeface="Assistant"/>
              <a:cs typeface="Assistant"/>
              <a:sym typeface="Assistan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ssistant"/>
              <a:buChar char="●"/>
            </a:pPr>
            <a:r>
              <a:rPr lang="en" sz="1300">
                <a:latin typeface="Assistant"/>
                <a:ea typeface="Assistant"/>
                <a:cs typeface="Assistant"/>
                <a:sym typeface="Assistant"/>
              </a:rPr>
              <a:t>Extract Table 3a/3b (transactions / values).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ssistant"/>
              <a:buChar char="●"/>
            </a:pPr>
            <a:r>
              <a:rPr lang="en" sz="1300">
                <a:latin typeface="Assistant"/>
                <a:ea typeface="Assistant"/>
                <a:cs typeface="Assistant"/>
                <a:sym typeface="Assistant"/>
              </a:rPr>
              <a:t>S</a:t>
            </a:r>
            <a:r>
              <a:rPr lang="en" sz="1300">
                <a:latin typeface="Assistant"/>
                <a:ea typeface="Assistant"/>
                <a:cs typeface="Assistant"/>
                <a:sym typeface="Assistant"/>
              </a:rPr>
              <a:t>ave cleaned CSVs to data/interim/.</a:t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ssistant"/>
              <a:buChar char="●"/>
            </a:pPr>
            <a:r>
              <a:t/>
            </a:r>
            <a:endParaRPr sz="13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4614050" y="936750"/>
            <a:ext cx="4404300" cy="3951600"/>
          </a:xfrm>
          <a:prstGeom prst="rect">
            <a:avLst/>
          </a:prstGeom>
          <a:solidFill>
            <a:srgbClr val="CDE6EE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</a:t>
            </a:r>
            <a:r>
              <a:rPr b="1" lang="en" sz="145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2.      Clean Data &amp; Create Tidy Dataset</a:t>
            </a:r>
            <a:endParaRPr b="1" sz="145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ssistant"/>
              <a:buChar char="●"/>
            </a:pPr>
            <a:r>
              <a:rPr lang="en" sz="1300">
                <a:latin typeface="Assistant"/>
                <a:ea typeface="Assistant"/>
                <a:cs typeface="Assistant"/>
                <a:sym typeface="Assistant"/>
              </a:rPr>
              <a:t>Remove helper rows (“of which”).</a:t>
            </a:r>
            <a:endParaRPr sz="1300"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ssistant"/>
              <a:buChar char="●"/>
            </a:pPr>
            <a:r>
              <a:rPr lang="en" sz="1300">
                <a:latin typeface="Assistant"/>
                <a:ea typeface="Assistant"/>
                <a:cs typeface="Assistant"/>
                <a:sym typeface="Assistant"/>
              </a:rPr>
              <a:t>Standardize columns (2022 S1→2022H1).</a:t>
            </a:r>
            <a:endParaRPr sz="1300"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ssistant"/>
              <a:buChar char="●"/>
            </a:pPr>
            <a:r>
              <a:rPr lang="en" sz="1300">
                <a:latin typeface="Assistant"/>
                <a:ea typeface="Assistant"/>
                <a:cs typeface="Assistant"/>
                <a:sym typeface="Assistant"/>
              </a:rPr>
              <a:t>Convert to long (tidy) format with melt().</a:t>
            </a:r>
            <a:endParaRPr sz="1300"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ssistant"/>
              <a:buChar char="●"/>
            </a:pPr>
            <a:r>
              <a:t/>
            </a:r>
            <a:endParaRPr sz="13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79" name="Google Shape;179;p24" title="Знімок екрана 2025-11-29 о 11.04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25" y="2375000"/>
            <a:ext cx="4302000" cy="2176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4" title="Знімок екрана 2025-11-29 о 11.10.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4050" y="2375000"/>
            <a:ext cx="4404299" cy="2673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4" title="Знімок екрана 2025-11-29 о 11.22.2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225" y="4390800"/>
            <a:ext cx="4302001" cy="646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24"/>
          <p:cNvGrpSpPr/>
          <p:nvPr/>
        </p:nvGrpSpPr>
        <p:grpSpPr>
          <a:xfrm rot="1871065">
            <a:off x="5874705" y="-623353"/>
            <a:ext cx="974715" cy="792315"/>
            <a:chOff x="919500" y="1916075"/>
            <a:chExt cx="1067700" cy="867900"/>
          </a:xfrm>
        </p:grpSpPr>
        <p:sp>
          <p:nvSpPr>
            <p:cNvPr id="183" name="Google Shape;183;p24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rgbClr val="EA5B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4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311700" y="1464825"/>
            <a:ext cx="85206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Understand the structure and characteristics of payment data.</a:t>
            </a:r>
            <a:br>
              <a:rPr lang="en"/>
            </a:b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Identify variability, seasonality, and anomalies in transaction volumes.</a:t>
            </a:r>
            <a:br>
              <a:rPr lang="en"/>
            </a:b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Determine key patterns that influence Instant Payments readiness.</a:t>
            </a:r>
            <a:br>
              <a:rPr lang="en"/>
            </a:b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Prepare a reliable foundation for further modeling and simulation.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 txBox="1"/>
          <p:nvPr>
            <p:ph type="title"/>
          </p:nvPr>
        </p:nvSpPr>
        <p:spPr>
          <a:xfrm>
            <a:off x="372875" y="915600"/>
            <a:ext cx="72615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680"/>
              <a:buNone/>
            </a:pPr>
            <a:r>
              <a:rPr lang="en" sz="4080">
                <a:solidFill>
                  <a:schemeClr val="accent1"/>
                </a:solidFill>
              </a:rPr>
              <a:t>EDA</a:t>
            </a:r>
            <a:r>
              <a:rPr lang="en" sz="4080">
                <a:solidFill>
                  <a:schemeClr val="accent1"/>
                </a:solidFill>
              </a:rPr>
              <a:t> Goals  </a:t>
            </a:r>
            <a:endParaRPr sz="408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520"/>
          </a:p>
        </p:txBody>
      </p:sp>
      <p:pic>
        <p:nvPicPr>
          <p:cNvPr id="191" name="Google Shape;1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9150" y="2975300"/>
            <a:ext cx="2073149" cy="2073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25"/>
          <p:cNvGrpSpPr/>
          <p:nvPr/>
        </p:nvGrpSpPr>
        <p:grpSpPr>
          <a:xfrm rot="8100000">
            <a:off x="5647104" y="228584"/>
            <a:ext cx="974676" cy="792284"/>
            <a:chOff x="521400" y="3135325"/>
            <a:chExt cx="1067700" cy="867900"/>
          </a:xfrm>
        </p:grpSpPr>
        <p:sp>
          <p:nvSpPr>
            <p:cNvPr id="193" name="Google Shape;193;p25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rgbClr val="58AD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25"/>
          <p:cNvGrpSpPr/>
          <p:nvPr/>
        </p:nvGrpSpPr>
        <p:grpSpPr>
          <a:xfrm>
            <a:off x="372883" y="3654605"/>
            <a:ext cx="1007894" cy="1007892"/>
            <a:chOff x="3717325" y="2137000"/>
            <a:chExt cx="1104178" cy="1104176"/>
          </a:xfrm>
        </p:grpSpPr>
        <p:sp>
          <p:nvSpPr>
            <p:cNvPr id="196" name="Google Shape;196;p25"/>
            <p:cNvSpPr/>
            <p:nvPr/>
          </p:nvSpPr>
          <p:spPr>
            <a:xfrm>
              <a:off x="3717325" y="2238576"/>
              <a:ext cx="1002600" cy="1002600"/>
            </a:xfrm>
            <a:prstGeom prst="ellipse">
              <a:avLst/>
            </a:prstGeom>
            <a:solidFill>
              <a:srgbClr val="EA5B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5"/>
            <p:cNvSpPr/>
            <p:nvPr/>
          </p:nvSpPr>
          <p:spPr>
            <a:xfrm>
              <a:off x="3818903" y="213700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/>
        </p:nvSpPr>
        <p:spPr>
          <a:xfrm>
            <a:off x="926850" y="3767100"/>
            <a:ext cx="72903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Conclusions:</a:t>
            </a:r>
            <a:endParaRPr b="1"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Distribution is highly right-skewed → a few very large categories dominate volume.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Median is much lower than upper values → strong imbalance in transaction sizes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Several outliers indicate irregular spikes in payment activity.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03" name="Google Shape;203;p2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04" name="Google Shape;204;p26"/>
          <p:cNvGrpSpPr/>
          <p:nvPr/>
        </p:nvGrpSpPr>
        <p:grpSpPr>
          <a:xfrm rot="3908890">
            <a:off x="-564088" y="317"/>
            <a:ext cx="1209020" cy="982659"/>
            <a:chOff x="2318413" y="2452450"/>
            <a:chExt cx="1067700" cy="867900"/>
          </a:xfrm>
        </p:grpSpPr>
        <p:sp>
          <p:nvSpPr>
            <p:cNvPr id="205" name="Google Shape;205;p26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26"/>
          <p:cNvGrpSpPr/>
          <p:nvPr/>
        </p:nvGrpSpPr>
        <p:grpSpPr>
          <a:xfrm flipH="1">
            <a:off x="8620737" y="4638684"/>
            <a:ext cx="1007894" cy="1007892"/>
            <a:chOff x="5999050" y="3320360"/>
            <a:chExt cx="1104178" cy="1104176"/>
          </a:xfrm>
        </p:grpSpPr>
        <p:sp>
          <p:nvSpPr>
            <p:cNvPr id="208" name="Google Shape;208;p26"/>
            <p:cNvSpPr/>
            <p:nvPr/>
          </p:nvSpPr>
          <p:spPr>
            <a:xfrm>
              <a:off x="5999050" y="3421936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CDE6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6100628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58AD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26"/>
          <p:cNvGrpSpPr/>
          <p:nvPr/>
        </p:nvGrpSpPr>
        <p:grpSpPr>
          <a:xfrm rot="1871065">
            <a:off x="-176207" y="4746485"/>
            <a:ext cx="974715" cy="792315"/>
            <a:chOff x="919500" y="1916075"/>
            <a:chExt cx="1067700" cy="867900"/>
          </a:xfrm>
        </p:grpSpPr>
        <p:sp>
          <p:nvSpPr>
            <p:cNvPr id="211" name="Google Shape;211;p26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rgbClr val="EA5B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3" name="Google Shape;213;p26" title="EDA_dist_transactio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99" y="110432"/>
            <a:ext cx="7429402" cy="365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643275" y="1230750"/>
            <a:ext cx="7191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12"/>
              <a:buFont typeface="Arial"/>
              <a:buNone/>
            </a:pPr>
            <a:r>
              <a:rPr lang="en" sz="4975">
                <a:solidFill>
                  <a:schemeClr val="accent1"/>
                </a:solidFill>
              </a:rPr>
              <a:t>Hypothesis 1 - Growth of Instant Payments</a:t>
            </a:r>
            <a:endParaRPr b="1" sz="304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19" name="Google Shape;219;p2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0" name="Google Shape;2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8676" y="3925026"/>
            <a:ext cx="1900525" cy="7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>
            <p:ph idx="4294967295" type="subTitle"/>
          </p:nvPr>
        </p:nvSpPr>
        <p:spPr>
          <a:xfrm>
            <a:off x="700650" y="2652650"/>
            <a:ext cx="77427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accent1"/>
                </a:solidFill>
              </a:rPr>
              <a:t>Are instant payments (SCT Inst) becoming a dominant payment method in Germany?</a:t>
            </a:r>
            <a:endParaRPr sz="2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/>
        </p:nvSpPr>
        <p:spPr>
          <a:xfrm>
            <a:off x="1330425" y="3910450"/>
            <a:ext cx="72903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Conclusions:</a:t>
            </a:r>
            <a:endParaRPr b="1"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The volume of SCT </a:t>
            </a: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Inst increases</a:t>
            </a: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steadily and the </a:t>
            </a: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paper-based transfers decreases.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This confirms that Instant payments are gradually replacing traditional paper transfers. 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The trend demonstrates a clear digital transformation in the German payment market.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H1_stacked_sct_vs_paper.png" id="227" name="Google Shape;2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3450" y="150400"/>
            <a:ext cx="6082652" cy="3760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068300"/>
            <a:ext cx="1012753" cy="107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9660" y="4359144"/>
            <a:ext cx="784350" cy="784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28"/>
          <p:cNvGrpSpPr/>
          <p:nvPr/>
        </p:nvGrpSpPr>
        <p:grpSpPr>
          <a:xfrm>
            <a:off x="-608649" y="-408370"/>
            <a:ext cx="1007894" cy="1007892"/>
            <a:chOff x="5530800" y="2137000"/>
            <a:chExt cx="1104178" cy="1104176"/>
          </a:xfrm>
        </p:grpSpPr>
        <p:sp>
          <p:nvSpPr>
            <p:cNvPr id="231" name="Google Shape;231;p28"/>
            <p:cNvSpPr/>
            <p:nvPr/>
          </p:nvSpPr>
          <p:spPr>
            <a:xfrm>
              <a:off x="5530800" y="2238576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F9C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5632378" y="213700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EA5B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643275" y="515425"/>
            <a:ext cx="7919100" cy="22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Arial"/>
              <a:buNone/>
            </a:pPr>
            <a:r>
              <a:rPr lang="en" sz="5000">
                <a:solidFill>
                  <a:schemeClr val="accent1"/>
                </a:solidFill>
              </a:rPr>
              <a:t>Hypothesis 2 - Electronic payments system load.</a:t>
            </a:r>
            <a:endParaRPr b="1" sz="50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38" name="Google Shape;238;p2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9" name="Google Shape;2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8676" y="3925026"/>
            <a:ext cx="1900525" cy="7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9"/>
          <p:cNvSpPr txBox="1"/>
          <p:nvPr>
            <p:ph idx="4294967295" type="subTitle"/>
          </p:nvPr>
        </p:nvSpPr>
        <p:spPr>
          <a:xfrm>
            <a:off x="700650" y="2652650"/>
            <a:ext cx="77427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accent1"/>
                </a:solidFill>
              </a:rPr>
              <a:t>Is overall system load increasing as users shift to electronic payments?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/>
        </p:nvSpPr>
        <p:spPr>
          <a:xfrm>
            <a:off x="638700" y="3894800"/>
            <a:ext cx="85053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Conclusions:</a:t>
            </a:r>
            <a:endParaRPr b="1"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The number of Domestic transactions  increases steadily.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Overall payment activity is growing, indicating a heavier operational load on banking infrastructure.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As electronic and instant payments expand, banks need to ensure that their systems can handle higher transaction volumes and maintain low latency.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246" name="Google Shape;246;p30"/>
          <p:cNvGrpSpPr/>
          <p:nvPr/>
        </p:nvGrpSpPr>
        <p:grpSpPr>
          <a:xfrm>
            <a:off x="8674876" y="2067805"/>
            <a:ext cx="1007894" cy="1007892"/>
            <a:chOff x="5530800" y="2137000"/>
            <a:chExt cx="1104178" cy="1104176"/>
          </a:xfrm>
        </p:grpSpPr>
        <p:sp>
          <p:nvSpPr>
            <p:cNvPr id="247" name="Google Shape;247;p30"/>
            <p:cNvSpPr/>
            <p:nvPr/>
          </p:nvSpPr>
          <p:spPr>
            <a:xfrm>
              <a:off x="5530800" y="2238576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F9C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5632378" y="213700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EA5B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2_total_domestic.png" id="249" name="Google Shape;24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525" y="80525"/>
            <a:ext cx="6320686" cy="39072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" name="Google Shape;250;p30"/>
          <p:cNvGrpSpPr/>
          <p:nvPr/>
        </p:nvGrpSpPr>
        <p:grpSpPr>
          <a:xfrm rot="2700000">
            <a:off x="-176196" y="4480282"/>
            <a:ext cx="974676" cy="792284"/>
            <a:chOff x="2258813" y="3584825"/>
            <a:chExt cx="1067700" cy="867900"/>
          </a:xfrm>
        </p:grpSpPr>
        <p:sp>
          <p:nvSpPr>
            <p:cNvPr id="251" name="Google Shape;251;p30"/>
            <p:cNvSpPr/>
            <p:nvPr/>
          </p:nvSpPr>
          <p:spPr>
            <a:xfrm>
              <a:off x="2258813" y="36610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CDE6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0"/>
            <p:cNvSpPr/>
            <p:nvPr/>
          </p:nvSpPr>
          <p:spPr>
            <a:xfrm>
              <a:off x="2411213" y="35848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58AD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3" name="Google Shape;25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18" y="80527"/>
            <a:ext cx="748807" cy="783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type="title"/>
          </p:nvPr>
        </p:nvSpPr>
        <p:spPr>
          <a:xfrm>
            <a:off x="643275" y="515425"/>
            <a:ext cx="7919100" cy="22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Font typeface="Arial"/>
              <a:buNone/>
            </a:pPr>
            <a:r>
              <a:rPr lang="en" sz="5200">
                <a:solidFill>
                  <a:schemeClr val="accent1"/>
                </a:solidFill>
              </a:rPr>
              <a:t>Hypothesis 3 - VoP Strictness Impact</a:t>
            </a:r>
            <a:endParaRPr b="1" sz="50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9" name="Google Shape;259;p3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0" name="Google Shape;2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8676" y="3925026"/>
            <a:ext cx="1900525" cy="7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1"/>
          <p:cNvSpPr txBox="1"/>
          <p:nvPr>
            <p:ph idx="4294967295" type="subTitle"/>
          </p:nvPr>
        </p:nvSpPr>
        <p:spPr>
          <a:xfrm>
            <a:off x="700650" y="2652650"/>
            <a:ext cx="77427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accent1"/>
                </a:solidFill>
              </a:rPr>
              <a:t>How does Verification of Payee (VoP) strictness affect customer experience?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/>
        </p:nvSpPr>
        <p:spPr>
          <a:xfrm>
            <a:off x="1341725" y="3838200"/>
            <a:ext cx="85053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Conclusions:</a:t>
            </a:r>
            <a:endParaRPr b="1"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Higher VoP threshold → fewer transactions pass verification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Conversion Rate decreases as VoP becomes stricter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Too strict VoP harms customer experience and usability</a:t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267" name="Google Shape;267;p32" title="H3_VoP_conversion_r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1725" y="152400"/>
            <a:ext cx="6522890" cy="374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520650"/>
            <a:ext cx="750750" cy="78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32"/>
          <p:cNvGrpSpPr/>
          <p:nvPr/>
        </p:nvGrpSpPr>
        <p:grpSpPr>
          <a:xfrm rot="2700000">
            <a:off x="8592966" y="3004682"/>
            <a:ext cx="974676" cy="792284"/>
            <a:chOff x="2258813" y="3584825"/>
            <a:chExt cx="1067700" cy="867900"/>
          </a:xfrm>
        </p:grpSpPr>
        <p:sp>
          <p:nvSpPr>
            <p:cNvPr id="270" name="Google Shape;270;p32"/>
            <p:cNvSpPr/>
            <p:nvPr/>
          </p:nvSpPr>
          <p:spPr>
            <a:xfrm>
              <a:off x="2258813" y="36610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CDE6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2"/>
            <p:cNvSpPr/>
            <p:nvPr/>
          </p:nvSpPr>
          <p:spPr>
            <a:xfrm>
              <a:off x="2411213" y="35848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58AD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>
            <p:ph type="title"/>
          </p:nvPr>
        </p:nvSpPr>
        <p:spPr>
          <a:xfrm>
            <a:off x="643275" y="515425"/>
            <a:ext cx="8189700" cy="22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000">
                <a:solidFill>
                  <a:schemeClr val="accent1"/>
                </a:solidFill>
              </a:rPr>
              <a:t>Hypothesis 4 - Risk Exposure &amp; Manual Review Load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277" name="Google Shape;277;p3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8" name="Google Shape;27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8676" y="3925026"/>
            <a:ext cx="1900525" cy="7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3"/>
          <p:cNvSpPr txBox="1"/>
          <p:nvPr>
            <p:ph idx="4294967295" type="subTitle"/>
          </p:nvPr>
        </p:nvSpPr>
        <p:spPr>
          <a:xfrm>
            <a:off x="700650" y="2652650"/>
            <a:ext cx="77427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accent1"/>
                </a:solidFill>
              </a:rPr>
              <a:t>How does fraud filter sensitivity influence risk and operations?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/>
        </p:nvSpPr>
        <p:spPr>
          <a:xfrm>
            <a:off x="1048575" y="3762600"/>
            <a:ext cx="8505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Conclusions:</a:t>
            </a:r>
            <a:endParaRPr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</a:pPr>
            <a:r>
              <a:rPr lang="en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Lower threshold → less fraud risk, but much higher manual review load.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</a:pPr>
            <a:r>
              <a:rPr lang="en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Higher threshold → fewer reviews, but significantly more fraud slips through.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H4_line_fraud_risk_exposure.png" id="285" name="Google Shape;28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125" y="304761"/>
            <a:ext cx="7307448" cy="3578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7290" y="4662501"/>
            <a:ext cx="1249424" cy="4852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34"/>
          <p:cNvGrpSpPr/>
          <p:nvPr/>
        </p:nvGrpSpPr>
        <p:grpSpPr>
          <a:xfrm rot="8100266">
            <a:off x="8032031" y="4112091"/>
            <a:ext cx="974601" cy="792223"/>
            <a:chOff x="2318413" y="2452450"/>
            <a:chExt cx="1067700" cy="867900"/>
          </a:xfrm>
        </p:grpSpPr>
        <p:sp>
          <p:nvSpPr>
            <p:cNvPr id="288" name="Google Shape;288;p34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F9C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EA5B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34"/>
          <p:cNvGrpSpPr/>
          <p:nvPr/>
        </p:nvGrpSpPr>
        <p:grpSpPr>
          <a:xfrm flipH="1">
            <a:off x="-114038" y="-511453"/>
            <a:ext cx="1007894" cy="1007892"/>
            <a:chOff x="5999050" y="3320360"/>
            <a:chExt cx="1104178" cy="1104176"/>
          </a:xfrm>
        </p:grpSpPr>
        <p:sp>
          <p:nvSpPr>
            <p:cNvPr id="291" name="Google Shape;291;p34"/>
            <p:cNvSpPr/>
            <p:nvPr/>
          </p:nvSpPr>
          <p:spPr>
            <a:xfrm>
              <a:off x="5999050" y="3421936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CDE6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4"/>
            <p:cNvSpPr/>
            <p:nvPr/>
          </p:nvSpPr>
          <p:spPr>
            <a:xfrm>
              <a:off x="6100628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58AD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type="title"/>
          </p:nvPr>
        </p:nvSpPr>
        <p:spPr>
          <a:xfrm>
            <a:off x="311150" y="5647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Difficulties &amp; How I Overcame Them</a:t>
            </a:r>
            <a:endParaRPr/>
          </a:p>
        </p:txBody>
      </p:sp>
      <p:sp>
        <p:nvSpPr>
          <p:cNvPr id="298" name="Google Shape;298;p35"/>
          <p:cNvSpPr txBox="1"/>
          <p:nvPr>
            <p:ph idx="1" type="body"/>
          </p:nvPr>
        </p:nvSpPr>
        <p:spPr>
          <a:xfrm>
            <a:off x="311700" y="1289275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1. Converting Bundesbank data from PDF to Excel/CSV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Required manual cleaning + reconstruction of column names.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Tables had multi-row headers and merged cells.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Solved:</a:t>
            </a:r>
            <a:r>
              <a:rPr lang="en"/>
              <a:t> Structured parsing + Tidy transformation (melt)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2</a:t>
            </a:r>
            <a:r>
              <a:rPr b="1" lang="en"/>
              <a:t>. Not realistic KPI formula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Early KPI used only Conversion &amp; Risk.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Needed to integrate 4 metrics: Conversion, Latency, Manual Review, Risk.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Solved:</a:t>
            </a:r>
            <a:r>
              <a:rPr lang="en"/>
              <a:t> Feature normalization + weighted KPI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0" name="Google Shape;300;p35"/>
          <p:cNvGrpSpPr/>
          <p:nvPr/>
        </p:nvGrpSpPr>
        <p:grpSpPr>
          <a:xfrm rot="2699785">
            <a:off x="8377047" y="4408446"/>
            <a:ext cx="1208946" cy="982653"/>
            <a:chOff x="2318413" y="2452450"/>
            <a:chExt cx="1067700" cy="867900"/>
          </a:xfrm>
        </p:grpSpPr>
        <p:sp>
          <p:nvSpPr>
            <p:cNvPr id="301" name="Google Shape;301;p35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3" name="Google Shape;3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7370" y="1972579"/>
            <a:ext cx="1084950" cy="1135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35"/>
          <p:cNvGrpSpPr/>
          <p:nvPr/>
        </p:nvGrpSpPr>
        <p:grpSpPr>
          <a:xfrm flipH="1">
            <a:off x="6739487" y="-280178"/>
            <a:ext cx="1007894" cy="1007892"/>
            <a:chOff x="5999050" y="3320360"/>
            <a:chExt cx="1104178" cy="1104176"/>
          </a:xfrm>
        </p:grpSpPr>
        <p:sp>
          <p:nvSpPr>
            <p:cNvPr id="305" name="Google Shape;305;p35"/>
            <p:cNvSpPr/>
            <p:nvPr/>
          </p:nvSpPr>
          <p:spPr>
            <a:xfrm>
              <a:off x="5999050" y="3421936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CDE6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6100628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58AD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6"/>
          <p:cNvSpPr txBox="1"/>
          <p:nvPr>
            <p:ph type="ctrTitle"/>
          </p:nvPr>
        </p:nvSpPr>
        <p:spPr>
          <a:xfrm>
            <a:off x="311700" y="1239050"/>
            <a:ext cx="82311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Font typeface="Arial"/>
              <a:buNone/>
            </a:pPr>
            <a:r>
              <a:rPr lang="en"/>
              <a:t>Final Result - Optimal Vop x Fraud settings</a:t>
            </a:r>
            <a:endParaRPr/>
          </a:p>
        </p:txBody>
      </p:sp>
      <p:sp>
        <p:nvSpPr>
          <p:cNvPr id="312" name="Google Shape;312;p36"/>
          <p:cNvSpPr txBox="1"/>
          <p:nvPr>
            <p:ph idx="1" type="subTitle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Balanced settings for speed, security, and operational efficiency.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7"/>
          <p:cNvSpPr txBox="1"/>
          <p:nvPr/>
        </p:nvSpPr>
        <p:spPr>
          <a:xfrm>
            <a:off x="964950" y="4338500"/>
            <a:ext cx="7214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Conclusion: </a:t>
            </a:r>
            <a:r>
              <a:rPr lang="en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The simulation identifies VoP ≈ 0.80 and Fraud ≈ 0.50 as the optimal balance.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318" name="Google Shape;318;p37"/>
          <p:cNvGrpSpPr/>
          <p:nvPr/>
        </p:nvGrpSpPr>
        <p:grpSpPr>
          <a:xfrm rot="8100266">
            <a:off x="-344619" y="571441"/>
            <a:ext cx="974601" cy="792223"/>
            <a:chOff x="2318413" y="2452450"/>
            <a:chExt cx="1067700" cy="867900"/>
          </a:xfrm>
        </p:grpSpPr>
        <p:sp>
          <p:nvSpPr>
            <p:cNvPr id="319" name="Google Shape;319;p37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F9CE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7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rgbClr val="EA5B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5_heatmap_vop_fraud_optimal.png" id="321" name="Google Shape;3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4125" y="104150"/>
            <a:ext cx="5770790" cy="423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14850"/>
            <a:ext cx="497949" cy="5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7227" y="1846801"/>
            <a:ext cx="1176769" cy="1249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37"/>
          <p:cNvGrpSpPr/>
          <p:nvPr/>
        </p:nvGrpSpPr>
        <p:grpSpPr>
          <a:xfrm flipH="1">
            <a:off x="8536037" y="4285334"/>
            <a:ext cx="1007894" cy="1007892"/>
            <a:chOff x="5999050" y="3320360"/>
            <a:chExt cx="1104178" cy="1104176"/>
          </a:xfrm>
        </p:grpSpPr>
        <p:sp>
          <p:nvSpPr>
            <p:cNvPr id="325" name="Google Shape;325;p37"/>
            <p:cNvSpPr/>
            <p:nvPr/>
          </p:nvSpPr>
          <p:spPr>
            <a:xfrm>
              <a:off x="5999050" y="3421936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CDE6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7"/>
            <p:cNvSpPr/>
            <p:nvPr/>
          </p:nvSpPr>
          <p:spPr>
            <a:xfrm>
              <a:off x="6100628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rgbClr val="58AD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8"/>
          <p:cNvSpPr txBox="1"/>
          <p:nvPr>
            <p:ph type="title"/>
          </p:nvPr>
        </p:nvSpPr>
        <p:spPr>
          <a:xfrm>
            <a:off x="311150" y="944925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5000">
                <a:solidFill>
                  <a:schemeClr val="accent1"/>
                </a:solidFill>
              </a:rPr>
              <a:t>Final Conclusions</a:t>
            </a:r>
            <a:endParaRPr b="1" sz="5000">
              <a:solidFill>
                <a:schemeClr val="accen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32" name="Google Shape;332;p38"/>
          <p:cNvSpPr txBox="1"/>
          <p:nvPr>
            <p:ph idx="2" type="body"/>
          </p:nvPr>
        </p:nvSpPr>
        <p:spPr>
          <a:xfrm>
            <a:off x="4778450" y="342900"/>
            <a:ext cx="4291500" cy="43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Instant payments adoption in Germany is rising — system load is increasing.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VoP and Fraud thresholds create trade-offs between speed, safety, and operations.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Optimal balance found: VoP ≈ 0.80 and Fraud ≈ 0.50.</a:t>
            </a:r>
            <a:endParaRPr/>
          </a:p>
        </p:txBody>
      </p:sp>
      <p:sp>
        <p:nvSpPr>
          <p:cNvPr id="333" name="Google Shape;333;p3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9"/>
          <p:cNvSpPr txBox="1"/>
          <p:nvPr>
            <p:ph type="title"/>
          </p:nvPr>
        </p:nvSpPr>
        <p:spPr>
          <a:xfrm>
            <a:off x="594075" y="997425"/>
            <a:ext cx="8189700" cy="22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Font typeface="Arial"/>
              <a:buNone/>
            </a:pPr>
            <a:r>
              <a:rPr lang="en" sz="5000">
                <a:solidFill>
                  <a:srgbClr val="58ADC5"/>
                </a:solidFill>
              </a:rPr>
              <a:t>Future Improvements:</a:t>
            </a:r>
            <a:endParaRPr sz="5000">
              <a:solidFill>
                <a:srgbClr val="58ADC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5000">
              <a:solidFill>
                <a:srgbClr val="58ADC5"/>
              </a:solidFill>
            </a:endParaRPr>
          </a:p>
        </p:txBody>
      </p:sp>
      <p:sp>
        <p:nvSpPr>
          <p:cNvPr id="339" name="Google Shape;339;p3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0" name="Google Shape;34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8676" y="3925026"/>
            <a:ext cx="1900525" cy="7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9"/>
          <p:cNvSpPr txBox="1"/>
          <p:nvPr>
            <p:ph idx="4294967295" type="subTitle"/>
          </p:nvPr>
        </p:nvSpPr>
        <p:spPr>
          <a:xfrm>
            <a:off x="700650" y="2228025"/>
            <a:ext cx="77427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DC5"/>
              </a:buClr>
              <a:buSzPts val="2300"/>
              <a:buChar char="●"/>
            </a:pPr>
            <a:r>
              <a:rPr lang="en" sz="2300">
                <a:solidFill>
                  <a:srgbClr val="58ADC5"/>
                </a:solidFill>
              </a:rPr>
              <a:t>Realistic latency modeling (Queueing Theory).</a:t>
            </a:r>
            <a:endParaRPr sz="2300">
              <a:solidFill>
                <a:srgbClr val="58ADC5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DC5"/>
              </a:buClr>
              <a:buSzPts val="2300"/>
              <a:buChar char="●"/>
            </a:pPr>
            <a:r>
              <a:rPr lang="en" sz="2300">
                <a:solidFill>
                  <a:srgbClr val="58ADC5"/>
                </a:solidFill>
              </a:rPr>
              <a:t>ML-based fraud model.</a:t>
            </a:r>
            <a:endParaRPr sz="2300">
              <a:solidFill>
                <a:srgbClr val="58ADC5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DC5"/>
              </a:buClr>
              <a:buSzPts val="2300"/>
              <a:buChar char="●"/>
            </a:pPr>
            <a:r>
              <a:rPr lang="en" sz="2300">
                <a:solidFill>
                  <a:srgbClr val="58ADC5"/>
                </a:solidFill>
              </a:rPr>
              <a:t>Forecasting system load (e.g. 2025–2027).</a:t>
            </a:r>
            <a:endParaRPr sz="2300">
              <a:solidFill>
                <a:srgbClr val="58ADC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rgbClr val="58ADC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rgbClr val="58ADC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40"/>
          <p:cNvSpPr txBox="1"/>
          <p:nvPr>
            <p:ph idx="4294967295" type="body"/>
          </p:nvPr>
        </p:nvSpPr>
        <p:spPr>
          <a:xfrm>
            <a:off x="1791500" y="2586975"/>
            <a:ext cx="57675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/>
              <a:t>Contact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Vladyslav Buldenko</a:t>
            </a:r>
            <a:br>
              <a:rPr lang="en" sz="1400"/>
            </a:br>
            <a:r>
              <a:rPr lang="en" sz="1400"/>
              <a:t>Student of the Data Analytics course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lang="en" sz="1400"/>
              <a:t>vlad.buldenko.96@gmail.com</a:t>
            </a:r>
            <a:endParaRPr sz="1400"/>
          </a:p>
        </p:txBody>
      </p:sp>
      <p:pic>
        <p:nvPicPr>
          <p:cNvPr id="348" name="Google Shape;348;p40" title="IMG_5562 2.JPG"/>
          <p:cNvPicPr preferRelativeResize="0"/>
          <p:nvPr/>
        </p:nvPicPr>
        <p:blipFill rotWithShape="1">
          <a:blip r:embed="rId3">
            <a:alphaModFix/>
          </a:blip>
          <a:srcRect b="1124" l="0" r="0" t="1124"/>
          <a:stretch/>
        </p:blipFill>
        <p:spPr>
          <a:xfrm>
            <a:off x="311700" y="2586975"/>
            <a:ext cx="1285200" cy="12852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9" name="Google Shape;349;p40"/>
          <p:cNvSpPr txBox="1"/>
          <p:nvPr>
            <p:ph type="title"/>
          </p:nvPr>
        </p:nvSpPr>
        <p:spPr>
          <a:xfrm>
            <a:off x="311700" y="928550"/>
            <a:ext cx="81000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Thanks a lot!</a:t>
            </a:r>
            <a:endParaRPr/>
          </a:p>
        </p:txBody>
      </p:sp>
      <p:pic>
        <p:nvPicPr>
          <p:cNvPr id="350" name="Google Shape;350;p40" title="IMG_680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0250" y="1593425"/>
            <a:ext cx="2449450" cy="24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